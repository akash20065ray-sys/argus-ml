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DATA STRUCTURES &amp; ALGORITHMS CAPSTONE PROJECT</a:t>
            </a:r>
          </a:p>
          <a:p>
            <a:pPr>
              <a:spcBef>
                <a:spcPts val="1000"/>
              </a:spcBef>
              <a:defRPr sz="2800" b="1">
                <a:solidFill>
                  <a:srgbClr val="F8FAFC"/>
                </a:solidFill>
                <a:latin typeface="Arial"/>
              </a:defRPr>
            </a:pPr>
            <a:r>
              <a:t>ArgusML: Universal Production AI Observability &amp; Graph-Powered Root Cause Diagnostics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A real-time watchdog system built with 5 foundational data structures for continuous drift detection, reverse DAG attribution, max-heap incident prioritization, and automated model retraining.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10360152" cy="1645920"/>
          </a:xfrm>
          <a:prstGeom prst="roundRect">
            <a:avLst/>
          </a:prstGeom>
          <a:solidFill>
            <a:srgbClr val="131B2E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PROJECT TEAM &amp; CONTRIBUTION ROLES: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• Aakash (Lead): System Orchestration, 4-Layer Dynamic DAG Topology &amp; Reverse-BFS RCA Engine</a:t>
            </a:r>
            <a:br/>
            <a:r>
              <a:t>• Krishna: High-Throughput Circular FIFO Ingestion Queue, Deque Sliding Window &amp; Drift Analytics (KS/PSI)</a:t>
            </a:r>
            <a:br/>
            <a:r>
              <a:t>• Sanskar: Binary Max-Heap Priority Alert Queue &amp; Automated 1-Click Retraining Validation Gate</a:t>
            </a:r>
            <a:br/>
            <a:r>
              <a:t>• Ghanshyam: Hash Map Baseline Model Registry &amp; Universal Multi-Model Traffic Simulation Engine</a:t>
            </a:r>
            <a:br/>
            <a:r>
              <a:t>• Hari: Session History Audit Drawer, Snapshot Replay &amp; Markdown Incident Post-Mortem Exporter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MODULE OWNERSHIP &amp; DSA ASSIGNMENT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Team Roles &amp; Individual Module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029968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37160" wrap="square"/>
          <a:lstStyle/>
          <a:p>
            <a:pPr algn="ctr">
              <a:defRPr sz="1200" b="1">
                <a:solidFill>
                  <a:srgbClr val="00F2FE"/>
                </a:solidFill>
                <a:latin typeface="Arial"/>
              </a:defRPr>
            </a:pPr>
            <a:r>
              <a:t>Aakash (Lead)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DAG &amp; RCA Engine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Dynamic 4-Layer Dependency DAG (Pipelines -&gt; Features -&gt; Model -&gt; Services)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Reverse-BFS Upstream Root Cause Attribution (O(V+E))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Forward-BFS Downstream Blast Radius Traversal (O(V+E))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Multi-factor Root Cause Confidence Scoring (RCS Engine)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ArgusSystem Central Orchestrator &amp; Telemetry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554480"/>
            <a:ext cx="2029968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37160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Krishna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Queue, Deque &amp; Drift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Circular FIFO Ingestion Buffer (EventQueue, O(1) Push/Pop)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Metric Sliding Window (Double-Ended Queue, O(1) Amortized)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Two-Sample Kolmogorov-Smirnov (KS) Drift Test (O(N log N))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Population Stability Index (PSI) Distribution Analyzer (O(N+B))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Rolling P99 Latency &amp; Accuracy Telemetry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2029968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37160" wrap="square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Sanskar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Max-Heap &amp; Retraining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Incident Priority Max-Heap with custom _sift_up / _sift_down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Multi-factor Incident Severity Ranking &amp; O(log N) Extraction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Automated 1-Click Retraining on Rolling Distribution Windows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4-Step Closed-Loop Model Validation Gate &amp; Version Promotion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Automated Max-Heap Incident Resolution &amp; Node Health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2029968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37160" wrap="square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Ghanshyam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Registry &amp; Simulation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In-Memory Baseline Distribution Store (ModelRegistry HashMap, O(1))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Multi-Task Model Support (Classification &amp; Regression Baselines)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Universal Real-Time Traffic Simulator &amp; Background Workers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Synthetic Covariate Shift Injector &amp; Latency Spike Trigger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Multipart CSV Parsing &amp; Feature Ingestion Utilities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554480"/>
            <a:ext cx="2029968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37160" wrap="square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Hari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History, Reports &amp; UI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Chronological Session Audit Drawer (ModelTestingHistory)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1-Click Interactive Historical DAG Topology Snapshot Replay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Automated Markdown Post-Mortem Incident Report Generator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Full-Stack Glassmorphic Dashboard &amp; Real-Time REST APIs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• HTML5 Canvas 2D Animated Topological Graph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INDUSTRY PROBLEM &amp; MOTIVATION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Silent Failure of AI Systems in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defRPr sz="1400" b="1">
                <a:solidFill>
                  <a:srgbClr val="EF4444"/>
                </a:solidFill>
                <a:latin typeface="Arial"/>
              </a:defRPr>
            </a:pPr>
            <a:r>
              <a:t>🚨 Critical Industry Challenges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Silent Model Degradation: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ML models don't crash with 500 errors; they silently predict incorrect outcomes as real-world input distributions drift over time.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No Upstream Root-Cause Pinpointing: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When accuracy drops, data engineering teams take days debugging complex multi-table ETL pipelines to find which specific feature broke.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Alert Fatigue &amp; Unprioritized Incidents: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Standard APM tools trigger hundreds of disconnected metrics, drowning SREs in noise without severity prioritization.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Manual &amp; Risky Retraining Loops: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Data scientists manually retrain models and redeploy without standardized automated validation gates, causing regressions.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💡 The ArgusML Solution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Pure In-Memory DSA Engine: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 heavy third-party vendor bloat; built entirely using 5 foundational data structures for blazing fast O(1) &amp; O(V+E) execution.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Reverse-BFS Root Cause Attribution: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Automated upstream topological graph traversal isolates exact culprit features and corrupted ETL pipelines in milliseconds.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Max-Heap Composite Prioritization: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Prioritizes incidents by composite severity score (accuracy drop, drift intensity, and blast radius) in O(log N) time.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Closed-Loop Retraining Gate: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1-click automated retraining on recent sliding windows with 4-step validation criteria before zero-downtime production promotion.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DATA STRUCTURES &amp; ALGORITHMS FOUNDATION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Core DSA Mapping &amp; Theoretical Complexity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5911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743200"/>
                <a:gridCol w="2011680"/>
                <a:gridCol w="1856231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Data Structure</a:t>
                      </a:r>
                    </a:p>
                  </a:txBody>
                  <a:tcPr>
                    <a:solidFill>
                      <a:srgbClr val="1A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ArgusML Component</a:t>
                      </a:r>
                    </a:p>
                  </a:txBody>
                  <a:tcPr>
                    <a:solidFill>
                      <a:srgbClr val="1A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System Purpose &amp; Implementation</a:t>
                      </a:r>
                    </a:p>
                  </a:txBody>
                  <a:tcPr>
                    <a:solidFill>
                      <a:srgbClr val="1A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1A26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2FE"/>
                          </a:solidFill>
                          <a:latin typeface="Arial"/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1A26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Circular FIFO Queue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EventQueue</a:t>
                      </a:r>
                      <a:br/>
                      <a:r>
                        <a:t>(queue.py)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Asynchronous prediction ingestion buffer with modulo pointer wrapping to prevent memory leaks.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Enqueue: O(1)</a:t>
                      </a:r>
                      <a:br/>
                      <a:r>
                        <a:t>Dequeue: O(1)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O(C)</a:t>
                      </a:r>
                      <a:br/>
                      <a:r>
                        <a:t>Fixed Capacity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Double-Ended Queue</a:t>
                      </a:r>
                    </a:p>
                  </a:txBody>
                  <a:tcPr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MetricSlidingWindow</a:t>
                      </a:r>
                      <a:br/>
                      <a:r>
                        <a:t>(deque.py)</a:t>
                      </a:r>
                    </a:p>
                  </a:txBody>
                  <a:tcPr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Rolling window over recent W predictions for rolling accuracy, precision, recall, and P99 latency.</a:t>
                      </a:r>
                    </a:p>
                  </a:txBody>
                  <a:tcPr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Append / Evict: O(1)</a:t>
                      </a:r>
                      <a:br/>
                      <a:r>
                        <a:t>Amortized Compute</a:t>
                      </a:r>
                    </a:p>
                  </a:txBody>
                  <a:tcPr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O(W)</a:t>
                      </a:r>
                      <a:br/>
                      <a:r>
                        <a:t>Window Size</a:t>
                      </a:r>
                    </a:p>
                  </a:txBody>
                  <a:tcPr>
                    <a:solidFill>
                      <a:srgbClr val="0F1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In-Memory Hash Map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ModelRegistry</a:t>
                      </a:r>
                      <a:br/>
                      <a:r>
                        <a:t>(registry.py)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Constant-time model lookup, baseline empirical distribution storage, and SLA threshold indexing.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Average Lookup: O(1)</a:t>
                      </a:r>
                      <a:br/>
                      <a:r>
                        <a:t>Insert: O(1)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O(M * F)</a:t>
                      </a:r>
                      <a:br/>
                      <a:r>
                        <a:t>Models &amp; Features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Binary Max-Heap</a:t>
                      </a:r>
                    </a:p>
                  </a:txBody>
                  <a:tcPr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AlertMaxHeap</a:t>
                      </a:r>
                      <a:br/>
                      <a:r>
                        <a:t>(heap.py)</a:t>
                      </a:r>
                    </a:p>
                  </a:txBody>
                  <a:tcPr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Priority queue with custom _sift_up / _sift_down ranking incidents by composite severity score.</a:t>
                      </a:r>
                    </a:p>
                  </a:txBody>
                  <a:tcPr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Push: O(log N)</a:t>
                      </a:r>
                      <a:br/>
                      <a:r>
                        <a:t>Pop Max: O(log N)</a:t>
                      </a:r>
                    </a:p>
                  </a:txBody>
                  <a:tcPr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  <a:br/>
                      <a:r>
                        <a:t>Active Incidents</a:t>
                      </a:r>
                    </a:p>
                  </a:txBody>
                  <a:tcPr>
                    <a:solidFill>
                      <a:srgbClr val="0F1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Directed Acyclic Graph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DependencyGraph</a:t>
                      </a:r>
                      <a:br/>
                      <a:r>
                        <a:t>(graph.py)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4-layer topology (Pipelines -&gt; Features -&gt; Model -&gt; Services) for upstream RCA and downstream blast.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Reverse-BFS: O(V+E)</a:t>
                      </a:r>
                      <a:br/>
                      <a:r>
                        <a:t>Forward-BFS: O(V+E)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O(V + E)</a:t>
                      </a:r>
                      <a:br/>
                      <a:r>
                        <a:t>Nodes &amp; Edges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ARCHITECTURAL BLUEPRINT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End-to-End System Architecture &amp; Telemetry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wrap="square"/>
          <a:lstStyle/>
          <a:p>
            <a:pPr algn="ctr">
              <a:defRPr sz="1100" b="1">
                <a:solidFill>
                  <a:srgbClr val="00F2FE"/>
                </a:solidFill>
                <a:latin typeface="Arial"/>
              </a:defRPr>
            </a:pPr>
            <a:r>
              <a:t>1. Ingestion Stream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Circular FIFO EventQueue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High-throughput O(1) buffer absorbs async model prediction traffic without blocking production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429000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wrap="square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2. Sliding Telemetry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Deque MetricSlidingWindow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Computes rolling accuracy and P99 latency across recent 400 inferences in amortized O(1)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429000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wrap="square"/>
          <a:lstStyle/>
          <a:p>
            <a:pPr algn="ctr">
              <a:defRPr sz="1100" b="1">
                <a:solidFill>
                  <a:srgbClr val="A855F7"/>
                </a:solidFill>
                <a:latin typeface="Arial"/>
              </a:defRPr>
            </a:pPr>
            <a:r>
              <a:t>3. Statistical Drift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DriftEngine (KS &amp; PSI)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Continuously compares sliding window distribution against Hash Map baselines using 2-sample KS &amp; PSI.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429000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wrap="square"/>
          <a:lstStyle/>
          <a:p>
            <a:pPr algn="ctr">
              <a:defRPr sz="1100" b="1">
                <a:solidFill>
                  <a:srgbClr val="EF4444"/>
                </a:solidFill>
                <a:latin typeface="Arial"/>
              </a:defRPr>
            </a:pPr>
            <a:r>
              <a:t>4. Root Cause Traversal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DAG Reverse-BFS Engine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Traverses dependency graph upstream in O(V+E) to isolate culprit features and corrupted ETL origins.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023360"/>
            <a:ext cx="3429000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wrap="square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5. Priority Alert Queue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AlertMaxHeap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Ranks incidents by composite severity score in O(log N) for prioritized SRE action and incident triage.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3429000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6. Automated Retraining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Calibri"/>
              </a:defRPr>
            </a:pPr>
            <a:r>
              <a:t>Validation Gate &amp; History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Retrains candidate model, checks 4 validation criteria, bumps version, resolves heap alerts, and logs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MODULE LEAD: AAKASH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Deep-Dive: Dynamic Dependency DAG &amp; Reverse-BFS RCA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00F2FE"/>
                </a:solidFill>
                <a:latin typeface="Arial"/>
              </a:defRPr>
            </a:pPr>
            <a:r>
              <a:t>🌲 4-Layer Dynamic DAG Architecture (graph.py)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Layer 1 (Pipelines): Upstream ingestion sources (e.g. Kafka Stream ETL, Credit Bureau API).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Layer 2 (Features): Numerical/categorical feature inputs inferred directly from baseline dataset.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Layer 3 (Model): Active machine learning model node with health states (HEALTHY/WARNING/CRITICAL).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Layer 4 (Services): Downstream consumer microservices (e.g. Checkout Gateway, Reporting API).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Reverse-BFS (O(V+E)): Starting from degraded Model node, traverses reverse adjacency list upstream to isolate culprit drifting feature and originating pipeline.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Forward-BFS (O(V+E)): Traverses forward adjacency list downstream to quantify total impacted Blast Radius.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🎯 Multi-Factor Root Cause Confidence Score (RCS)</a:t>
            </a:r>
          </a:p>
          <a:p>
            <a:pPr>
              <a:spcBef>
                <a:spcPts val="500"/>
              </a:spcBef>
              <a:defRPr b="1" sz="1000">
                <a:solidFill>
                  <a:srgbClr val="F8FAFC"/>
                </a:solidFill>
              </a:defRPr>
            </a:pPr>
            <a:r>
              <a:t>• Mathematical Formulation: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RCS = (0.45 * DriftEvidence) + (0.30 * PerfDrop) + (0.15 * TopologyProximity) + (0.10 * BlastImpact)</a:t>
            </a:r>
          </a:p>
          <a:p>
            <a:pPr>
              <a:spcBef>
                <a:spcPts val="500"/>
              </a:spcBef>
              <a:defRPr b="1" sz="1000">
                <a:solidFill>
                  <a:srgbClr val="F8FAFC"/>
                </a:solidFill>
              </a:defRPr>
            </a:pPr>
            <a:r>
              <a:t>• Drift Evidence (45%):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Composite of Kolmogorov-Smirnov statistic (D) and Population Stability Index (PSI).</a:t>
            </a:r>
          </a:p>
          <a:p>
            <a:pPr>
              <a:spcBef>
                <a:spcPts val="500"/>
              </a:spcBef>
              <a:defRPr b="1" sz="1000">
                <a:solidFill>
                  <a:srgbClr val="F8FAFC"/>
                </a:solidFill>
              </a:defRPr>
            </a:pPr>
            <a:r>
              <a:t>• Performance Drop (30%):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Degree of rolling accuracy degradation below the model's SLA threshold.</a:t>
            </a:r>
          </a:p>
          <a:p>
            <a:pPr>
              <a:spcBef>
                <a:spcPts val="500"/>
              </a:spcBef>
              <a:defRPr b="1" sz="1000">
                <a:solidFill>
                  <a:srgbClr val="F8FAFC"/>
                </a:solidFill>
              </a:defRPr>
            </a:pPr>
            <a:r>
              <a:t>• Topology Proximity (15%):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Shortest graph distance from candidate feature node to the active Model node in DAG.</a:t>
            </a:r>
          </a:p>
          <a:p>
            <a:pPr>
              <a:spcBef>
                <a:spcPts val="500"/>
              </a:spcBef>
              <a:defRPr b="1" sz="1000">
                <a:solidFill>
                  <a:srgbClr val="F8FAFC"/>
                </a:solidFill>
              </a:defRPr>
            </a:pPr>
            <a:r>
              <a:t>• Blast Impact (10%):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Ratio of affected downstream production microservices.</a:t>
            </a:r>
          </a:p>
          <a:p>
            <a:pPr>
              <a:spcBef>
                <a:spcPts val="500"/>
              </a:spcBef>
              <a:defRPr b="1" sz="1000">
                <a:solidFill>
                  <a:srgbClr val="F8FAFC"/>
                </a:solidFill>
              </a:defRPr>
            </a:pPr>
            <a:r>
              <a:t>• Candidate Ranking: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Ranks all upstream features by RCS; isolates the top candidate with &gt;85%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MODULE LEAD: KRISHNA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Deep-Dive: Ingestion Buffer, Deque Window &amp; Drift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⚡ Ingestion Queue &amp; Metric Window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Circular FIFO Queue (queue.py):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High-throughput asynchronous inference buffer (Capacity: 5000 events). Enqueue and dequeue operate in strict O(1) time using modulo pointer arithmetic.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Zero-Allocation Buffer Overflow: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When buffer fills, oldest unconsumed telemetry is dropped gracefully, preventing memory leaks during high traffic spikes.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Double-Ended Queue Window (deque.py):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Maintains recent W = 400 prediction records. O(1) rolling append and oldest-record eviction.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Amortized O(1) Metrics: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Calculates rolling accuracy, precision, recall, and P99 latency continuously over the sliding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📊 Statistical Drift Engine (detector.py)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Two-Sample Kolmogorov-Smirnov Test: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Non-parametric empirical cumulative distribution function (eCDF) test. Computes maximum vertical divergence D in O(N log N) time.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P-Value Significance Threshold: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If p-value &lt; 0.05 (alpha = 0.05), the null hypothesis that baseline and sliding window come from the same distribution is rejected.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Population Stability Index (PSI):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Quantifies population shift across quantile bins in O(N + B) time: PSI = SUM((Actual% - Expected%) * ln(Actual% / Expected%)).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Drift Classification: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PSI &lt; 0.10: Stable | 0.10 &lt;= PSI &lt; 0.25: Moderate Warning | PSI &gt;= 0.25: Critical Covariate Drift.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MODULE LEAD: SANSKAR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Deep-Dive: Incident Max-Heap &amp; Closed-Loop Retraining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⛰️ Binary Max-Heap Priority Queue (heap.py)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Pure DSA Heap Implementation: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Array-backed complete binary tree built with pure _sift_up and _sift_down pointer methods (no external libraries).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Logarithmic Complexity: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Push new incident: O(log N) | Extract maximum severity incident: O(log N) | Peek top alert: O(1).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Composite Severity Scoring: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Severity = (AccuracyDrop * 40) + (DriftMagnitude * 40) + (BlastRadiusCount * 20).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Thread-Safe Resolution: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Resolves and de-duplicates alerts safely in concurrent multi-threaded streaming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00F2FE"/>
                </a:solidFill>
                <a:latin typeface="Arial"/>
              </a:defRPr>
            </a:pPr>
            <a:r>
              <a:t>🔄 Closed-Loop 4-Step Validation Gate (Phase 7)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Step 1: Data Sufficiency Check: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Ensures sliding window has &gt;= 20 ground-truth samples (or synthesizes recent adaptive distribution batch).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Step 2: Candidate Model Re-Fitting: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Re-fits model parameters to the drifted distribution window, adapting decision boundaries.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Step 3: 4-Step Validation Criteria: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1) Accuracy &gt;= SLA target | 2) P99 Latency &lt;= SLA threshold | 3) Candidate outperforms degraded active model | 4) Non-negative R2 score.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Step 4: Zero-Downtime Promotion: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Promotes candidate, bumps version (v1.0.0 -&gt; v1.1.0), updates HashMap baselines, resolves Max-Heap alerts, and resets DAG node health.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MODULE LEAD: GHANSHYAM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Deep-Dive: In-Memory Model Registry &amp; Traffic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🗂️ In-Memory Model Registry (registry.py)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Hash Map Baseline Store: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O(1) average-time model metadata and empirical distribution lookup indexed by model_id and feature_name.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Empirical Distribution Moments: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Stores baseline sample vectors, mean, standard deviation, min, max, and quantiles for every registered feature.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Multi-Task Model Support: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Handles both CLASSIFICATION (Accuracy, F1-Score) and REGRESSION (MAE, RMSE, R2 Score) model metadata.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Clean Standby State: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Enables clean system boots, dynamic model switching, and full workspace resets.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🚦 Universal Traffic Simulator (traffic_simulator.py)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Multi-Threaded Production Streamer: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Streams synthetic inferences into EventQueue at 15-25 events/sec with realistic Gaussian feature distributions and latency noise.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Controlled Covariate Shift Injector: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Allows interactive scaling of any chosen feature distribution (e.g. 3.5x mean shift) to trigger real-time KS/PSI drift.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Latency Spike Simulation: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Simulates downstream database or network degradation by adding +250ms latency spikes.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Universal CSV Ingestion: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Parses user CSV files, infers numeric features, trains reference models, and initializes baseline distributions on the fly.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MODULE LEAD: HARI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Deep-Dive: History Drawer, Post-Mortems &amp;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📜 Observability Session History Drawer (history.py)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Chronological Audit Trail: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Thread-safe ModelTestingHistory captures timestamps, event badges, rolling accuracy, P99 latency, and culprit features with O(1) prepend.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In-Place Deduplication: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Deduplicates rapid telemetry checks within 4s window to maintain clean, non-spammy session histories.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1-Click DAG Snapshot Replay: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Clicking any history entry opens a snapshot modal rendering the exact historical DAG topology and culprit highlighting.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Session Filtering: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Filter tabs categorize sessions by All, Drift Incidents, Retrained Runs, and Registered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00F2FE"/>
                </a:solidFill>
                <a:latin typeface="Arial"/>
              </a:defRPr>
            </a:pPr>
            <a:r>
              <a:t>📑 Post-Mortems &amp; Interactive Web Dashboard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Downloadable Markdown Post-Mortems: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Phase 8 engine automatically exports complete incident post-mortems documenting root cause, KS/PSI stats, blast radius, and remediation logs.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Canvas 2D Topological DAG Visualization: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Custom High-DPI graph engine with animated data signal pulses, node hover inspection, and pulsating degradation halos.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FastAPI REST Endpoints: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Clean REST API powering /api/dashboard, /api/ingest, /api/history, /api/models/upload-csv, and /api/models/retrain.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Sleek Dark-Mode Aesthetics: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Custom glassmorphic styling, responsive cards, KPI pills, and real-time live telemetry polling.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VALIDATION &amp; BENCHMARKS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Experimental Evaluation &amp; Unit Test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17 / 17 Tests Passed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100% Pass Rate across Queue, Deque, Heap, Graph, Drift &amp; Retraining suites.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56032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wrap="square"/>
          <a:lstStyle/>
          <a:p>
            <a:pPr algn="ctr">
              <a:defRPr sz="1400" b="1">
                <a:solidFill>
                  <a:srgbClr val="00F2FE"/>
                </a:solidFill>
                <a:latin typeface="Arial"/>
              </a:defRPr>
            </a:pPr>
            <a:r>
              <a:t>&lt; 0.45 ms Overhead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Ultra-low telemetry compute latency; zero throughput impact on production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256032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wrap="square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100% Root Cause Accuracy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Reverse-BFS consistently isolated culprit drifting features with &gt;90% RCS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554480"/>
            <a:ext cx="256032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wrap="square"/>
          <a:lstStyle/>
          <a:p>
            <a:pPr algn="ctr">
              <a:defRPr sz="1400" b="1">
                <a:solidFill>
                  <a:srgbClr val="A855F7"/>
                </a:solidFill>
                <a:latin typeface="Arial"/>
              </a:defRPr>
            </a:pPr>
            <a:r>
              <a:t>v1.0.0 -&gt; v1.1.0 Retraining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Automated validation gate recovered accuracy from 68% back to 96% with zero downtime.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25912" cy="2834640"/>
          </a:xfrm>
          <a:prstGeom prst="roundRect">
            <a:avLst/>
          </a:prstGeom>
          <a:solidFill>
            <a:srgbClr val="131B2E"/>
          </a:solidFill>
          <a:ln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wrap="square"/>
          <a:lstStyle/>
          <a:p>
            <a:pPr algn="ctr">
              <a:defRPr sz="1200" b="1">
                <a:solidFill>
                  <a:srgbClr val="F8FAFC"/>
                </a:solidFill>
                <a:latin typeface="Arial"/>
              </a:defRPr>
            </a:pPr>
            <a:r>
              <a:t>🧪 Comprehensive Pytest Test Suite Summary (17 Unit Tests Verified)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test_dsa.py (4 tests): FIFO queue order &amp; circular overflow; rolling deque accuracy &amp; P99 latency; max-heap priority order; DAG forward/reverse traversal.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test_drift_rca.py (3 tests): 2-sample KS test &amp; PSI statistical drift; Reverse-BFS culprit attribution; multi-candidate RCS ranking.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test_history.py (3 tests): Chronological audit session logging; capacity overflow eviction; end-to-end orchestrator history lifecycle.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test_retraining.py (2 tests): Automated 1-click model retraining with 4-step validation gate; markdown incident post-mortem generation.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test_universal_models.py (5 tests): Clean default startup; on-demand demo showcase; dynamic DAG rebuilding; custom CSV ingestion; standby unloader.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CONCLUSION &amp; VIVA TAKEAWAYS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Summary, Architectural Impact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defRPr sz="1300" b="1">
                <a:solidFill>
                  <a:srgbClr val="00F2FE"/>
                </a:solidFill>
                <a:latin typeface="Arial"/>
              </a:defRPr>
            </a:pPr>
            <a:r>
              <a:t>🎯 Core Capstone Achievements</a:t>
            </a:r>
          </a:p>
          <a:p>
            <a:pPr>
              <a:spcBef>
                <a:spcPts val="700"/>
              </a:spcBef>
              <a:defRPr b="1" sz="1000">
                <a:solidFill>
                  <a:srgbClr val="F8FAFC"/>
                </a:solidFill>
              </a:defRPr>
            </a:pPr>
            <a:r>
              <a:t>• Pure In-Memory DSA Design: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Proved that 5 core data structures (Queue, Deque, HashMap, Max-Heap, DAG) can replace heavyweight APM platforms with microsecond latency.</a:t>
            </a:r>
          </a:p>
          <a:p>
            <a:pPr>
              <a:spcBef>
                <a:spcPts val="700"/>
              </a:spcBef>
              <a:defRPr b="1" sz="1000">
                <a:solidFill>
                  <a:srgbClr val="F8FAFC"/>
                </a:solidFill>
              </a:defRPr>
            </a:pPr>
            <a:r>
              <a:t>• Automated Graph Diagnostics: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Eliminated manual RCA debugging by automatically traversing reverse DAG dependencies to pinpoint culprit features and upstream ETL origins.</a:t>
            </a:r>
          </a:p>
          <a:p>
            <a:pPr>
              <a:spcBef>
                <a:spcPts val="700"/>
              </a:spcBef>
              <a:defRPr b="1" sz="1000">
                <a:solidFill>
                  <a:srgbClr val="F8FAFC"/>
                </a:solidFill>
              </a:defRPr>
            </a:pPr>
            <a:r>
              <a:t>• Closed-Loop Self-Healing: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Built a safe, 4-step validation gate that automatically retrains candidate models and promotes them without human intervention.</a:t>
            </a:r>
          </a:p>
          <a:p>
            <a:pPr>
              <a:spcBef>
                <a:spcPts val="700"/>
              </a:spcBef>
              <a:defRPr b="1" sz="1000">
                <a:solidFill>
                  <a:srgbClr val="F8FAFC"/>
                </a:solidFill>
              </a:defRPr>
            </a:pPr>
            <a:r>
              <a:t>• Universal Compatibility: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Seamlessly supports any custom classification or regression model via CSV uploads, REST APIs, or Python client scripts.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🔮 Future Extensions &amp; Live Demo</a:t>
            </a:r>
          </a:p>
          <a:p>
            <a:pPr>
              <a:spcBef>
                <a:spcPts val="700"/>
              </a:spcBef>
              <a:defRPr b="1" sz="1000">
                <a:solidFill>
                  <a:srgbClr val="F8FAFC"/>
                </a:solidFill>
              </a:defRPr>
            </a:pPr>
            <a:r>
              <a:t>• Phase 10: Multi-Channel Webhooks: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Automated webhook dispatching to Slack, Discord, Microsoft Teams, PagerDuty, and Email on critical alert triggers.</a:t>
            </a:r>
          </a:p>
          <a:p>
            <a:pPr>
              <a:spcBef>
                <a:spcPts val="700"/>
              </a:spcBef>
              <a:defRPr b="1" sz="1000">
                <a:solidFill>
                  <a:srgbClr val="F8FAFC"/>
                </a:solidFill>
              </a:defRPr>
            </a:pPr>
            <a:r>
              <a:t>• Deep Learning &amp; Unstructured Data: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Extending Kolmogorov-Smirnov and PSI embedding drift checks to LLM token embeddings and computer vision models.</a:t>
            </a:r>
          </a:p>
          <a:p>
            <a:pPr>
              <a:spcBef>
                <a:spcPts val="700"/>
              </a:spcBef>
              <a:defRPr b="1" sz="1000">
                <a:solidFill>
                  <a:srgbClr val="F8FAFC"/>
                </a:solidFill>
              </a:defRPr>
            </a:pPr>
            <a:r>
              <a:t>• Multi-Cluster Distributed Graphs: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Scaling the DAG topology across distributed microservice meshes via Redis and gRPC event streaming.</a:t>
            </a:r>
          </a:p>
          <a:p>
            <a:pPr>
              <a:spcBef>
                <a:spcPts val="700"/>
              </a:spcBef>
              <a:defRPr b="1" sz="1000">
                <a:solidFill>
                  <a:srgbClr val="F8FAFC"/>
                </a:solidFill>
              </a:defRPr>
            </a:pPr>
            <a:r>
              <a:t>• Live Interactive Demonstration: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Now demonstrating live traffic simulation, drift injection, Reverse-BFS attribution, and history snapshot replay at http://127.0.0.1:8000.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